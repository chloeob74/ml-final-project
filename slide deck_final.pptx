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256" r:id="rId3"/>
    <p:sldId id="257" r:id="rId4"/>
    <p:sldId id="258" r:id="rId5"/>
    <p:sldId id="262" r:id="rId6"/>
    <p:sldId id="263" r:id="rId7"/>
    <p:sldId id="265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5397" autoAdjust="0"/>
  </p:normalViewPr>
  <p:slideViewPr>
    <p:cSldViewPr snapToGrid="0">
      <p:cViewPr varScale="1">
        <p:scale>
          <a:sx n="76" d="100"/>
          <a:sy n="76" d="100"/>
        </p:scale>
        <p:origin x="1276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00C5-676F-4C56-AA4B-2A6225385A8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F7E2-3B6E-4F9D-82A4-D07F529A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1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Firearm mortality varies hugely by state, and the policies and guns laws in each state varies too. We built multiple models and a dashboard to compare firearm death rates with a cumulative gun law strength score with U.S. firearm mortality data collected from 2014-2023.</a:t>
            </a:r>
          </a:p>
          <a:p>
            <a:endParaRPr lang="en-US" dirty="0"/>
          </a:p>
          <a:p>
            <a:r>
              <a:rPr lang="en-US" dirty="0"/>
              <a:t>We used two initial datasets, one from the CDC that gave us firearm mortality data from 2014-2023 for each state. The second is actually a database recording U.S. state laws regarding firearms, and this had data all the back </a:t>
            </a:r>
            <a:r>
              <a:rPr lang="en-US"/>
              <a:t>from before 1900.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F7E2-3B6E-4F9D-82A4-D07F529AE1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2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4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3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67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8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2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0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0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78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844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41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30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25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9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CF9B54-0771-4619-91C6-80D4996C31D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0F86407-91C0-4290-8AE1-6C6F7D4BD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813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67F1-BF2F-97AB-29C8-02B4D4BE7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Firearm Violence Analysis and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48FB9-B374-C2B0-1079-B42BA7C14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4092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Barnes, Chloe</a:t>
            </a:r>
          </a:p>
          <a:p>
            <a:r>
              <a:rPr lang="en-US" dirty="0"/>
              <a:t>Dallas, Ryan</a:t>
            </a:r>
          </a:p>
          <a:p>
            <a:r>
              <a:rPr lang="en-US" dirty="0"/>
              <a:t>Luedtke, Terry</a:t>
            </a:r>
          </a:p>
          <a:p>
            <a:r>
              <a:rPr lang="en-US" dirty="0"/>
              <a:t>Robinson, Shiraz</a:t>
            </a:r>
          </a:p>
          <a:p>
            <a:r>
              <a:rPr lang="en-US" dirty="0"/>
              <a:t>Threat, Tiandra</a:t>
            </a:r>
          </a:p>
        </p:txBody>
      </p:sp>
    </p:spTree>
    <p:extLst>
      <p:ext uri="{BB962C8B-B14F-4D97-AF65-F5344CB8AC3E}">
        <p14:creationId xmlns:p14="http://schemas.microsoft.com/office/powerpoint/2010/main" val="382027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9BCA85-C86E-6E8D-59B6-EE3747148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87289"/>
              </p:ext>
            </p:extLst>
          </p:nvPr>
        </p:nvGraphicFramePr>
        <p:xfrm>
          <a:off x="3597897" y="4480409"/>
          <a:ext cx="499620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119">
                  <a:extLst>
                    <a:ext uri="{9D8B030D-6E8A-4147-A177-3AD203B41FA5}">
                      <a16:colId xmlns:a16="http://schemas.microsoft.com/office/drawing/2014/main" val="622897228"/>
                    </a:ext>
                  </a:extLst>
                </a:gridCol>
                <a:gridCol w="1875934">
                  <a:extLst>
                    <a:ext uri="{9D8B030D-6E8A-4147-A177-3AD203B41FA5}">
                      <a16:colId xmlns:a16="http://schemas.microsoft.com/office/drawing/2014/main" val="1058302548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2305595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Adj r^2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03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0260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FC14B2C-3DFF-1D84-2E45-CA9E0C30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610"/>
            <a:ext cx="5986021" cy="21385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23902A-F918-7DA5-6063-06F701AC3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981" y="2077995"/>
            <a:ext cx="5823913" cy="21121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DA98AB3-212E-A5A6-F83D-13343068051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  <a:p>
            <a:pPr algn="ctr"/>
            <a:r>
              <a:rPr lang="en-US" sz="6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Research Question 1:</a:t>
            </a:r>
          </a:p>
          <a:p>
            <a:r>
              <a:rPr lang="en-US" sz="4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Can we predict firearm death rates based on gun law characteristics?</a:t>
            </a:r>
          </a:p>
          <a:p>
            <a:endParaRPr lang="en-US" sz="4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A60B0B-4ECA-7CCA-EB11-33CFC6876901}"/>
              </a:ext>
            </a:extLst>
          </p:cNvPr>
          <p:cNvSpPr txBox="1"/>
          <p:nvPr/>
        </p:nvSpPr>
        <p:spPr>
          <a:xfrm>
            <a:off x="4077048" y="1686711"/>
            <a:ext cx="4681058" cy="315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70000"/>
              </a:lnSpc>
              <a:spcBef>
                <a:spcPct val="0"/>
              </a:spcBef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+mj-cs"/>
              </a:rPr>
              <a:t>Basic Multi-Linear Regression Models</a:t>
            </a:r>
          </a:p>
        </p:txBody>
      </p:sp>
    </p:spTree>
    <p:extLst>
      <p:ext uri="{BB962C8B-B14F-4D97-AF65-F5344CB8AC3E}">
        <p14:creationId xmlns:p14="http://schemas.microsoft.com/office/powerpoint/2010/main" val="158748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6BD522-DA5B-B491-A750-35D3DCE6D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183788"/>
              </p:ext>
            </p:extLst>
          </p:nvPr>
        </p:nvGraphicFramePr>
        <p:xfrm>
          <a:off x="3597897" y="4572252"/>
          <a:ext cx="499620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119">
                  <a:extLst>
                    <a:ext uri="{9D8B030D-6E8A-4147-A177-3AD203B41FA5}">
                      <a16:colId xmlns:a16="http://schemas.microsoft.com/office/drawing/2014/main" val="622897228"/>
                    </a:ext>
                  </a:extLst>
                </a:gridCol>
                <a:gridCol w="1875934">
                  <a:extLst>
                    <a:ext uri="{9D8B030D-6E8A-4147-A177-3AD203B41FA5}">
                      <a16:colId xmlns:a16="http://schemas.microsoft.com/office/drawing/2014/main" val="1058302548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2305595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Adj r^2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0.938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03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026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A7C54D5-BAE7-E97A-121E-7EAA84E52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75688"/>
            <a:ext cx="5892538" cy="21396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9CC42-0A17-5E4E-8A7A-763909698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48256"/>
            <a:ext cx="5989320" cy="217216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0DFEF2-A8DF-41B1-04BC-D71DD2FB175F}"/>
              </a:ext>
            </a:extLst>
          </p:cNvPr>
          <p:cNvSpPr txBox="1">
            <a:spLocks/>
          </p:cNvSpPr>
          <p:nvPr/>
        </p:nvSpPr>
        <p:spPr>
          <a:xfrm>
            <a:off x="950053" y="211874"/>
            <a:ext cx="10515600" cy="1325563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  <a:p>
            <a:pPr algn="ctr"/>
            <a:r>
              <a:rPr lang="en-US" sz="66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Research Question 1c:</a:t>
            </a:r>
          </a:p>
          <a:p>
            <a:pPr algn="ctr"/>
            <a:r>
              <a:rPr lang="en-US" sz="4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Can we predict firearm death rates based on gun law characteristics?</a:t>
            </a:r>
          </a:p>
          <a:p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40FD4-72AB-EE42-889C-F36377527DF0}"/>
              </a:ext>
            </a:extLst>
          </p:cNvPr>
          <p:cNvSpPr txBox="1"/>
          <p:nvPr/>
        </p:nvSpPr>
        <p:spPr>
          <a:xfrm>
            <a:off x="4764947" y="1500677"/>
            <a:ext cx="3221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+mj-cs"/>
              </a:rPr>
              <a:t>Ridge-Regressed Models</a:t>
            </a:r>
          </a:p>
        </p:txBody>
      </p:sp>
    </p:spTree>
    <p:extLst>
      <p:ext uri="{BB962C8B-B14F-4D97-AF65-F5344CB8AC3E}">
        <p14:creationId xmlns:p14="http://schemas.microsoft.com/office/powerpoint/2010/main" val="215664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AD2D-60D7-BE60-7E1E-75943430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E68669-7B0C-A21B-3809-BDFB9FF89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929854"/>
              </p:ext>
            </p:extLst>
          </p:nvPr>
        </p:nvGraphicFramePr>
        <p:xfrm>
          <a:off x="3597897" y="4597424"/>
          <a:ext cx="4996205" cy="1390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119">
                  <a:extLst>
                    <a:ext uri="{9D8B030D-6E8A-4147-A177-3AD203B41FA5}">
                      <a16:colId xmlns:a16="http://schemas.microsoft.com/office/drawing/2014/main" val="622897228"/>
                    </a:ext>
                  </a:extLst>
                </a:gridCol>
                <a:gridCol w="1875934">
                  <a:extLst>
                    <a:ext uri="{9D8B030D-6E8A-4147-A177-3AD203B41FA5}">
                      <a16:colId xmlns:a16="http://schemas.microsoft.com/office/drawing/2014/main" val="1058302548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2305595236"/>
                    </a:ext>
                  </a:extLst>
                </a:gridCol>
              </a:tblGrid>
              <a:tr h="37948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Adj r^2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-1.689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03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026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38ADA3-53E8-46F4-6F2A-88017B20D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75688"/>
            <a:ext cx="5891360" cy="2139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586A1-E3A9-9BA0-BDFE-CA3C4CC3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8256"/>
            <a:ext cx="5989320" cy="216416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73AD735-6B2C-060A-EC8F-37659860752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Research Question 1c:</a:t>
            </a:r>
          </a:p>
          <a:p>
            <a:r>
              <a:rPr lang="en-US" sz="31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Can we predict firearm death rates based on gun law characteristics?</a:t>
            </a:r>
          </a:p>
          <a:p>
            <a:endParaRPr lang="en-US" sz="39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16696-48E0-12AD-DC0C-B94CEB5F6A62}"/>
              </a:ext>
            </a:extLst>
          </p:cNvPr>
          <p:cNvSpPr txBox="1"/>
          <p:nvPr/>
        </p:nvSpPr>
        <p:spPr>
          <a:xfrm>
            <a:off x="4438698" y="1560351"/>
            <a:ext cx="3540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Principal Component Model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345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D122-2502-0ABB-65F6-A6615168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F9A0-6C3E-C03A-4E07-A0E6909E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49001" cy="1325563"/>
          </a:xfrm>
        </p:spPr>
        <p:txBody>
          <a:bodyPr>
            <a:noAutofit/>
          </a:bodyPr>
          <a:lstStyle/>
          <a:p>
            <a:r>
              <a:rPr lang="en-US" sz="3900" dirty="0"/>
              <a:t>Research Question 2: </a:t>
            </a:r>
            <a:br>
              <a:rPr lang="en-US" sz="3900" dirty="0"/>
            </a:br>
            <a:r>
              <a:rPr lang="en-US" sz="2400" dirty="0"/>
              <a:t>Which specific law types are most strongly associated with death rates?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B5EB5-6383-123F-EC70-327DCA064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3" b="3900"/>
          <a:stretch>
            <a:fillRect/>
          </a:stretch>
        </p:blipFill>
        <p:spPr>
          <a:xfrm>
            <a:off x="6362699" y="2429352"/>
            <a:ext cx="5754867" cy="39712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E1EC6D-3CAE-CFAC-9143-AC9EEF070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2" b="3380"/>
          <a:stretch>
            <a:fillRect/>
          </a:stretch>
        </p:blipFill>
        <p:spPr>
          <a:xfrm>
            <a:off x="125835" y="2429352"/>
            <a:ext cx="6140885" cy="3971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472A3-102B-4EEE-AA2D-4F6DD4C6F5EA}"/>
              </a:ext>
            </a:extLst>
          </p:cNvPr>
          <p:cNvSpPr txBox="1"/>
          <p:nvPr/>
        </p:nvSpPr>
        <p:spPr>
          <a:xfrm>
            <a:off x="6437133" y="1875354"/>
            <a:ext cx="575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 of Law Strengths to Firearm Death Rates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2C767-BE86-6940-0748-57FA39C6E963}"/>
              </a:ext>
            </a:extLst>
          </p:cNvPr>
          <p:cNvSpPr txBox="1"/>
          <p:nvPr/>
        </p:nvSpPr>
        <p:spPr>
          <a:xfrm>
            <a:off x="838199" y="1875354"/>
            <a:ext cx="575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 of Features to Firearm Death Rates</a:t>
            </a:r>
          </a:p>
        </p:txBody>
      </p:sp>
    </p:spTree>
    <p:extLst>
      <p:ext uri="{BB962C8B-B14F-4D97-AF65-F5344CB8AC3E}">
        <p14:creationId xmlns:p14="http://schemas.microsoft.com/office/powerpoint/2010/main" val="383065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FDDC2-19ED-233E-D246-83CC72DE7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Methods: K-Means (k=3), Hierarchical Clustering, PCA visualization.</a:t>
            </a:r>
          </a:p>
          <a:p>
            <a:r>
              <a:rPr lang="en-US" dirty="0"/>
              <a:t>Key Findings:</a:t>
            </a:r>
          </a:p>
          <a:p>
            <a:pPr lvl="1"/>
            <a:r>
              <a:rPr lang="en-US" dirty="0"/>
              <a:t>Three clusters emerge: Most Restrictive, Moderately Restrictive, Least Restrictive.</a:t>
            </a:r>
          </a:p>
          <a:p>
            <a:pPr lvl="1"/>
            <a:r>
              <a:rPr lang="en-US" dirty="0"/>
              <a:t>Strong alignment between law strength and mortality rates.</a:t>
            </a:r>
          </a:p>
          <a:p>
            <a:pPr lvl="1"/>
            <a:r>
              <a:rPr lang="en-US" dirty="0"/>
              <a:t>PCA shows clear separation; 45.6% variance explained.</a:t>
            </a:r>
          </a:p>
          <a:p>
            <a:pPr lvl="1"/>
            <a:r>
              <a:rPr lang="en-US" dirty="0"/>
              <a:t>Interpretation: U.S. gun policy landscape is tri-modal, not continuous.</a:t>
            </a:r>
          </a:p>
          <a:p>
            <a:pPr lvl="1"/>
            <a:r>
              <a:rPr lang="en-US" dirty="0"/>
              <a:t>Validation: KNN &amp; MLP classifiers achieve 75% accuracy in predicting cluster membership.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373D9C-5E54-7A56-C02E-32672B09778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163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</a:pPr>
            <a:r>
              <a:rPr lang="en-US" sz="64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Research Question 3: </a:t>
            </a:r>
          </a:p>
          <a:p>
            <a:pPr algn="ctr"/>
            <a:r>
              <a:rPr lang="en-US" sz="3700" dirty="0">
                <a:solidFill>
                  <a:schemeClr val="tx2"/>
                </a:solidFill>
              </a:rPr>
              <a:t>Can we identify distinct groups of states based on gun law profiles?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9072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417FA-6F98-3601-8027-A312B4F93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9"/>
          <a:stretch>
            <a:fillRect/>
          </a:stretch>
        </p:blipFill>
        <p:spPr>
          <a:xfrm>
            <a:off x="25088" y="1584178"/>
            <a:ext cx="12141824" cy="527382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778C33-B918-044E-A6CA-8C331151D3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163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Research Question 4a: 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2900" dirty="0">
                <a:solidFill>
                  <a:schemeClr val="tx2"/>
                </a:solidFill>
              </a:rPr>
              <a:t>Temporal Trends of Gun Law Strength</a:t>
            </a:r>
          </a:p>
          <a:p>
            <a:pPr algn="ctr"/>
            <a:endParaRPr lang="en-US" sz="2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17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7DFE-7BFA-1E94-BD7B-09BC6803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F57ECE-A955-3D3D-F0F5-863CF34813F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163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Research Question 4b: 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2900" dirty="0">
                <a:solidFill>
                  <a:schemeClr val="tx2"/>
                </a:solidFill>
              </a:rPr>
              <a:t>Temporal Trends of Gun Death Rate (per 100k)</a:t>
            </a:r>
          </a:p>
          <a:p>
            <a:pPr algn="ctr"/>
            <a:endParaRPr lang="en-US" sz="29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6AC96-7C86-FE1B-68A9-9BC1A5D0A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" b="11742"/>
          <a:stretch>
            <a:fillRect/>
          </a:stretch>
        </p:blipFill>
        <p:spPr>
          <a:xfrm>
            <a:off x="29496" y="1690688"/>
            <a:ext cx="12052696" cy="506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5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7C29-D4F1-10A4-9D87-94E4188C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D85CE-F8B4-3344-E795-4A159C48E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stochastic process, difficult to predict with deterministic methods</a:t>
            </a:r>
          </a:p>
          <a:p>
            <a:r>
              <a:rPr lang="en-US" dirty="0"/>
              <a:t>There are correlations and indications of a relationship between legislation passed and rates of gun deaths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CCA915-A2D2-1273-0586-B236E12C99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163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Conclusions: </a:t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24616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197</TotalTime>
  <Words>402</Words>
  <Application>Microsoft Office PowerPoint</Application>
  <PresentationFormat>Widescreen</PresentationFormat>
  <Paragraphs>62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Calisto MT</vt:lpstr>
      <vt:lpstr>Wingdings 2</vt:lpstr>
      <vt:lpstr>Slate</vt:lpstr>
      <vt:lpstr>Firearm Violence Analysis and Modeling</vt:lpstr>
      <vt:lpstr>PowerPoint Presentation</vt:lpstr>
      <vt:lpstr>PowerPoint Presentation</vt:lpstr>
      <vt:lpstr>PowerPoint Presentation</vt:lpstr>
      <vt:lpstr>Research Question 2:  Which specific law types are most strongly associated with death rates?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Dallas</dc:creator>
  <cp:lastModifiedBy>Chloe Barnes</cp:lastModifiedBy>
  <cp:revision>9</cp:revision>
  <dcterms:created xsi:type="dcterms:W3CDTF">2025-12-11T18:47:18Z</dcterms:created>
  <dcterms:modified xsi:type="dcterms:W3CDTF">2025-12-12T15:06:58Z</dcterms:modified>
</cp:coreProperties>
</file>