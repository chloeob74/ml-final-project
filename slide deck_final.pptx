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60" r:id="rId2"/>
    <p:sldId id="256" r:id="rId3"/>
    <p:sldId id="257" r:id="rId4"/>
    <p:sldId id="258" r:id="rId5"/>
    <p:sldId id="261" r:id="rId6"/>
    <p:sldId id="262" r:id="rId7"/>
    <p:sldId id="263" r:id="rId8"/>
    <p:sldId id="265" r:id="rId9"/>
    <p:sldId id="266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65397" autoAdjust="0"/>
  </p:normalViewPr>
  <p:slideViewPr>
    <p:cSldViewPr snapToGrid="0">
      <p:cViewPr>
        <p:scale>
          <a:sx n="50" d="100"/>
          <a:sy n="50" d="100"/>
        </p:scale>
        <p:origin x="52" y="2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5800C5-676F-4C56-AA4B-2A6225385A80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EF7E2-3B6E-4F9D-82A4-D07F529AE1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712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Firearm mortality varies hugely by state, and the policies and guns laws in each state varies too. We built multiple models and a dashboard to compare firearm death rates with a cumulative gun law strength score with U.S. firearm mortality data collected from 2014-2023.</a:t>
            </a:r>
          </a:p>
          <a:p>
            <a:endParaRPr lang="en-US" dirty="0"/>
          </a:p>
          <a:p>
            <a:r>
              <a:rPr lang="en-US" dirty="0"/>
              <a:t>We used two initial datasets, one from the CDC that gave us firearm mortality data from 2014-2023 for each state. The second is actually a database recording U.S. state laws regarding firearms, and this had data all the back </a:t>
            </a:r>
            <a:r>
              <a:rPr lang="en-US"/>
              <a:t>from before 1900.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2EF7E2-3B6E-4F9D-82A4-D07F529AE1D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0247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AAA1C-7A71-4440-F7DD-89AEFD7268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405032-790A-7D04-9DCF-902B65B92C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3FC861-8C73-9887-3922-A34121B3E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781905-0688-A990-254D-8F759A3C8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939440-F8D8-12B9-B360-C9271C033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962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4D3F6-C15C-EF4B-0791-E467B22B9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AD089-54CE-C84A-37EF-6FF454C24B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2C77E9-EA5C-BD25-590D-BB120DD3C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38B8AF-28E4-CA85-6922-BE3865768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5504D-383A-6359-3071-911C8F0C2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066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9C8B1-94B8-8CE7-F06D-1F7904FC1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A46EA-CA55-D2FC-3EBD-40A73C80AC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2D6BA5-D2E4-7C9C-5C94-B3465546A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893155-B701-8BA7-09E6-CA61C5D6E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31296-4B34-561D-4598-FB865A955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3057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08A41-AED8-61BE-FBCD-C5EBA12C7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BFB04-CFE9-A19E-5A84-B58607440F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20EE82-5DCE-8258-8E90-B39B7F296A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559D6A-862D-07FF-B5B6-7B26EF01C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3F38EA-8453-9937-88D5-4F6FE9126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8D7C74-FE16-613D-A0E7-851B918B4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91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29BD3-48DC-49EB-8DEC-896E33181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80F2BD-FE8C-8E13-5462-F4AE4B1B9F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26553F-F641-4684-4A3E-9270C01948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3C8F6E-795A-9E46-22B4-B3C1DD222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4B384A-50AB-B45C-57D3-2E7A91F15D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554547-073D-B71E-9E90-4CB9C0761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1F269-A971-1130-B08C-6125687A6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F236CB-2FF9-5F67-3C6B-FCDEFB2E1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0392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D20BE-D2C7-4846-1F6E-E07AF4A31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EB550-5AA3-994E-59A7-4539D74B8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4D31F2-3A76-D376-99E2-9F5790433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7555D6-C320-E58A-0860-630CE07B7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6484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E37E72-AC37-E520-D052-8F09071C2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ACF029-FD50-40EC-8089-80845A478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42F28-9751-56D8-C35E-D912807E3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952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42DDA-497F-CB1C-E985-A6EAAB330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8AD9B-70BE-2E52-35EE-85EFCD024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702156-C0FD-3D64-0347-601B1B4E43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34D0BD-D93B-47AC-48AB-68D5948E6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A2FBEA-BF4A-1777-CE4F-27FE6DA67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E0165D-E190-40F7-BFCB-4AE83CCC3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552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52F38-4D24-BD26-0831-0F937A9A0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B6F98C-F711-66A4-1B53-FE6AD778FB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86B32-FF6B-E2FF-1FFC-CE3F4F040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D33CC2-F0DD-8BE2-AF58-5855BF027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7DBF33-871C-07C6-24D7-FB01A3AFD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F31592-D732-6ACB-7D67-AC201D70A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439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C4116-2FE7-E8C4-B126-1EB09533E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2AC687-1EE9-7559-FD08-AA34C8D050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CD493-627E-5F4F-C249-D8B4E4541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8EFE6C-5A8C-CBE4-CB3C-A7BEC08BF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4C13F-40F1-4783-2F17-8D26D0EA9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160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9BD8A9-C49D-9C27-8F2B-81238941F9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E65948-B60F-9314-FF0C-7204AF886D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9389B-8510-053C-C0FD-79276CD5D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A3E88A-52B6-58D7-6400-FAB1372C5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C7B831-06C7-E894-A100-9316DA86D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515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180364-09C5-A62E-420D-EAEECA181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149D9-1B12-0A94-47F0-D55D81433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1371CC-20A0-5152-0A9C-0B2AA99648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CF9B54-0771-4619-91C6-80D4996C31DE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B86FE-7EDD-A998-4ABA-E5B3CCBFB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F323F-8BD9-43F9-8476-F930F3E7EF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F86407-91C0-4290-8AE1-6C6F7D4B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358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667F1-BF2F-97AB-29C8-02B4D4BE76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Firearm Violence Analysis and Modeling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148FB9-B374-C2B0-1079-B42BA7C149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54092"/>
            <a:ext cx="9144000" cy="1655762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Barnes, Chloe</a:t>
            </a:r>
          </a:p>
          <a:p>
            <a:r>
              <a:rPr lang="en-US" dirty="0"/>
              <a:t>Dallas, Ryan</a:t>
            </a:r>
          </a:p>
          <a:p>
            <a:r>
              <a:rPr lang="en-US" dirty="0"/>
              <a:t>Luedtke, Terry</a:t>
            </a:r>
          </a:p>
          <a:p>
            <a:r>
              <a:rPr lang="en-US" dirty="0"/>
              <a:t>Robinson, Shiraz</a:t>
            </a:r>
          </a:p>
          <a:p>
            <a:r>
              <a:rPr lang="en-US" dirty="0"/>
              <a:t>Threat, Tiandra</a:t>
            </a:r>
          </a:p>
        </p:txBody>
      </p:sp>
    </p:spTree>
    <p:extLst>
      <p:ext uri="{BB962C8B-B14F-4D97-AF65-F5344CB8AC3E}">
        <p14:creationId xmlns:p14="http://schemas.microsoft.com/office/powerpoint/2010/main" val="3820270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49BCA85-C86E-6E8D-59B6-EE3747148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9273593"/>
              </p:ext>
            </p:extLst>
          </p:nvPr>
        </p:nvGraphicFramePr>
        <p:xfrm>
          <a:off x="3173452" y="4266371"/>
          <a:ext cx="499620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6119">
                  <a:extLst>
                    <a:ext uri="{9D8B030D-6E8A-4147-A177-3AD203B41FA5}">
                      <a16:colId xmlns:a16="http://schemas.microsoft.com/office/drawing/2014/main" val="622897228"/>
                    </a:ext>
                  </a:extLst>
                </a:gridCol>
                <a:gridCol w="1875934">
                  <a:extLst>
                    <a:ext uri="{9D8B030D-6E8A-4147-A177-3AD203B41FA5}">
                      <a16:colId xmlns:a16="http://schemas.microsoft.com/office/drawing/2014/main" val="1058302548"/>
                    </a:ext>
                  </a:extLst>
                </a:gridCol>
                <a:gridCol w="2234152">
                  <a:extLst>
                    <a:ext uri="{9D8B030D-6E8A-4147-A177-3AD203B41FA5}">
                      <a16:colId xmlns:a16="http://schemas.microsoft.com/office/drawing/2014/main" val="23055952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Dataset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Dataset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88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Adj r^2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0.948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0.904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038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1.598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6302609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DFC14B2C-3DFF-1D84-2E45-CA9E0C30F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51610"/>
            <a:ext cx="5986021" cy="21385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E23902A-F918-7DA5-6063-06F701AC31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981" y="2077995"/>
            <a:ext cx="5823913" cy="2112178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DA98AB3-212E-A5A6-F83D-13343068051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Research Question 1a: </a:t>
            </a:r>
            <a:br>
              <a:rPr lang="en-US" sz="4000" dirty="0"/>
            </a:br>
            <a:r>
              <a:rPr lang="en-US" sz="4000" dirty="0"/>
              <a:t>Basic Multi-Linear Regression Models</a:t>
            </a:r>
          </a:p>
        </p:txBody>
      </p:sp>
    </p:spTree>
    <p:extLst>
      <p:ext uri="{BB962C8B-B14F-4D97-AF65-F5344CB8AC3E}">
        <p14:creationId xmlns:p14="http://schemas.microsoft.com/office/powerpoint/2010/main" val="15874819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36BD522-DA5B-B491-A750-35D3DCE6DE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996517"/>
              </p:ext>
            </p:extLst>
          </p:nvPr>
        </p:nvGraphicFramePr>
        <p:xfrm>
          <a:off x="3172968" y="4270248"/>
          <a:ext cx="499620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6119">
                  <a:extLst>
                    <a:ext uri="{9D8B030D-6E8A-4147-A177-3AD203B41FA5}">
                      <a16:colId xmlns:a16="http://schemas.microsoft.com/office/drawing/2014/main" val="622897228"/>
                    </a:ext>
                  </a:extLst>
                </a:gridCol>
                <a:gridCol w="1875934">
                  <a:extLst>
                    <a:ext uri="{9D8B030D-6E8A-4147-A177-3AD203B41FA5}">
                      <a16:colId xmlns:a16="http://schemas.microsoft.com/office/drawing/2014/main" val="1058302548"/>
                    </a:ext>
                  </a:extLst>
                </a:gridCol>
                <a:gridCol w="2234152">
                  <a:extLst>
                    <a:ext uri="{9D8B030D-6E8A-4147-A177-3AD203B41FA5}">
                      <a16:colId xmlns:a16="http://schemas.microsoft.com/office/drawing/2014/main" val="23055952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Dataset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Dataset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88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Adj r^2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0.938</a:t>
                      </a:r>
                      <a:endParaRPr lang="en-US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0.893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038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1.689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6302609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0A7C54D5-BAE7-E97A-121E-7EAA84E52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8776" y="2075688"/>
            <a:ext cx="5892538" cy="213969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B09CC42-0A17-5E4E-8A7A-763909698F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048256"/>
            <a:ext cx="5989320" cy="2172167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490DFEF2-A8DF-41B1-04BC-D71DD2FB175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Research Question 1b: </a:t>
            </a:r>
            <a:br>
              <a:rPr lang="en-US" sz="4000" dirty="0"/>
            </a:br>
            <a:r>
              <a:rPr lang="en-US" sz="4000" dirty="0"/>
              <a:t>Ridge-Regressed Models</a:t>
            </a:r>
          </a:p>
        </p:txBody>
      </p:sp>
    </p:spTree>
    <p:extLst>
      <p:ext uri="{BB962C8B-B14F-4D97-AF65-F5344CB8AC3E}">
        <p14:creationId xmlns:p14="http://schemas.microsoft.com/office/powerpoint/2010/main" val="2156648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4AD2D-60D7-BE60-7E1E-759434303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5E68669-7B0C-A21B-3809-BDFB9FF892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33128"/>
              </p:ext>
            </p:extLst>
          </p:nvPr>
        </p:nvGraphicFramePr>
        <p:xfrm>
          <a:off x="3172968" y="4270248"/>
          <a:ext cx="499620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6119">
                  <a:extLst>
                    <a:ext uri="{9D8B030D-6E8A-4147-A177-3AD203B41FA5}">
                      <a16:colId xmlns:a16="http://schemas.microsoft.com/office/drawing/2014/main" val="622897228"/>
                    </a:ext>
                  </a:extLst>
                </a:gridCol>
                <a:gridCol w="1875934">
                  <a:extLst>
                    <a:ext uri="{9D8B030D-6E8A-4147-A177-3AD203B41FA5}">
                      <a16:colId xmlns:a16="http://schemas.microsoft.com/office/drawing/2014/main" val="1058302548"/>
                    </a:ext>
                  </a:extLst>
                </a:gridCol>
                <a:gridCol w="2234152">
                  <a:extLst>
                    <a:ext uri="{9D8B030D-6E8A-4147-A177-3AD203B41FA5}">
                      <a16:colId xmlns:a16="http://schemas.microsoft.com/office/drawing/2014/main" val="23055952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Dataset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Dataset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88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Adj r^2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-1.689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038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4.602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4.280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6302609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0838ADA3-53E8-46F4-6F2A-88017B20D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8776" y="2075688"/>
            <a:ext cx="5891360" cy="21396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9586A1-E3A9-9BA0-BDFE-CA3C4CC3D9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48256"/>
            <a:ext cx="5989320" cy="2164168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273AD735-6B2C-060A-EC8F-376598607523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Research Question 1: </a:t>
            </a:r>
            <a:br>
              <a:rPr lang="en-US" sz="4000" dirty="0"/>
            </a:br>
            <a:r>
              <a:rPr lang="en-US" sz="4000" dirty="0"/>
              <a:t>Principal Component Model</a:t>
            </a:r>
          </a:p>
        </p:txBody>
      </p:sp>
    </p:spTree>
    <p:extLst>
      <p:ext uri="{BB962C8B-B14F-4D97-AF65-F5344CB8AC3E}">
        <p14:creationId xmlns:p14="http://schemas.microsoft.com/office/powerpoint/2010/main" val="1293454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F429D-F13F-3566-49E4-CC7DEDADB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900" dirty="0"/>
              <a:t>Research Question 2a: </a:t>
            </a:r>
            <a:br>
              <a:rPr lang="en-US" sz="3900" dirty="0"/>
            </a:br>
            <a:r>
              <a:rPr lang="en-US" sz="3900" dirty="0"/>
              <a:t>Correlation of Features to Firearm Death Rates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60BC56-BDC0-80C7-7BFF-63EC447E1C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152" b="3380"/>
          <a:stretch>
            <a:fillRect/>
          </a:stretch>
        </p:blipFill>
        <p:spPr>
          <a:xfrm>
            <a:off x="1428750" y="1648654"/>
            <a:ext cx="8742242" cy="4828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4316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CD122-2502-0ABB-65F6-A66151688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7F9A0-6C3E-C03A-4E07-A0E6909E8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49001" cy="1325563"/>
          </a:xfrm>
        </p:spPr>
        <p:txBody>
          <a:bodyPr>
            <a:noAutofit/>
          </a:bodyPr>
          <a:lstStyle/>
          <a:p>
            <a:r>
              <a:rPr lang="en-US" sz="3900" dirty="0"/>
              <a:t>Research Question 2b: </a:t>
            </a:r>
            <a:br>
              <a:rPr lang="en-US" sz="3900" dirty="0"/>
            </a:br>
            <a:r>
              <a:rPr lang="en-US" sz="3900" dirty="0"/>
              <a:t>Correlation of Law Strengths to Firearm Death Rates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5B5EB5-6383-123F-EC70-327DCA0647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53" b="3900"/>
          <a:stretch>
            <a:fillRect/>
          </a:stretch>
        </p:blipFill>
        <p:spPr>
          <a:xfrm>
            <a:off x="1426464" y="1645920"/>
            <a:ext cx="8857870" cy="4828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6568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FDDC2-19ED-233E-D246-83CC72DE7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Goal: Detect natural groupings of states based on gun law profiles.</a:t>
            </a:r>
          </a:p>
          <a:p>
            <a:r>
              <a:rPr lang="en-US" dirty="0"/>
              <a:t>Methods: K-Means (k=3), Hierarchical Clustering, PCA visualization.</a:t>
            </a:r>
          </a:p>
          <a:p>
            <a:r>
              <a:rPr lang="en-US" dirty="0"/>
              <a:t>Key Findings:</a:t>
            </a:r>
          </a:p>
          <a:p>
            <a:pPr lvl="1"/>
            <a:r>
              <a:rPr lang="en-US" dirty="0"/>
              <a:t>Three clusters emerge: Most Restrictive, Moderately Restrictive, Least Restrictive.</a:t>
            </a:r>
          </a:p>
          <a:p>
            <a:pPr lvl="1"/>
            <a:r>
              <a:rPr lang="en-US" dirty="0"/>
              <a:t>Strong alignment between law strength and mortality rates.</a:t>
            </a:r>
          </a:p>
          <a:p>
            <a:pPr lvl="1"/>
            <a:r>
              <a:rPr lang="en-US" dirty="0"/>
              <a:t>PCA shows clear separation; 45.6% variance explained.</a:t>
            </a:r>
          </a:p>
          <a:p>
            <a:pPr lvl="1"/>
            <a:r>
              <a:rPr lang="en-US" dirty="0"/>
              <a:t>Interpretation: U.S. gun policy landscape is tri-modal, not continuous.</a:t>
            </a:r>
          </a:p>
          <a:p>
            <a:pPr lvl="1"/>
            <a:r>
              <a:rPr lang="en-US" dirty="0"/>
              <a:t>Validation: KNN &amp; MLP classifiers achieve 75% accuracy in predicting cluster membership. </a:t>
            </a:r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E373D9C-5E54-7A56-C02E-32672B097784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1163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Research Question 3: </a:t>
            </a:r>
            <a:br>
              <a:rPr lang="en-US" sz="4000" dirty="0"/>
            </a:br>
            <a:r>
              <a:rPr lang="en-US" sz="4000" dirty="0"/>
              <a:t>Identifying State Clusters</a:t>
            </a:r>
          </a:p>
        </p:txBody>
      </p:sp>
    </p:spTree>
    <p:extLst>
      <p:ext uri="{BB962C8B-B14F-4D97-AF65-F5344CB8AC3E}">
        <p14:creationId xmlns:p14="http://schemas.microsoft.com/office/powerpoint/2010/main" val="27907249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D417FA-6F98-3601-8027-A312B4F93C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929"/>
          <a:stretch>
            <a:fillRect/>
          </a:stretch>
        </p:blipFill>
        <p:spPr>
          <a:xfrm>
            <a:off x="25088" y="1422253"/>
            <a:ext cx="12141824" cy="5273822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E778C33-B918-044E-A6CA-8C331151D39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1163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Research Question 4a: </a:t>
            </a:r>
            <a:br>
              <a:rPr lang="en-US" sz="4000" dirty="0"/>
            </a:br>
            <a:r>
              <a:rPr lang="en-US" sz="4000" dirty="0"/>
              <a:t>Temporal Trends of Gun Law Strength</a:t>
            </a:r>
          </a:p>
        </p:txBody>
      </p:sp>
    </p:spTree>
    <p:extLst>
      <p:ext uri="{BB962C8B-B14F-4D97-AF65-F5344CB8AC3E}">
        <p14:creationId xmlns:p14="http://schemas.microsoft.com/office/powerpoint/2010/main" val="15941775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97DFE-7BFA-1E94-BD7B-09BC68037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DF57ECE-A955-3D3D-F0F5-863CF34813F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1163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Research Question 4b: </a:t>
            </a:r>
            <a:br>
              <a:rPr lang="en-US" sz="4000" dirty="0"/>
            </a:br>
            <a:r>
              <a:rPr lang="en-US" sz="4000" dirty="0"/>
              <a:t>Temporal Trends of Gun Law Strength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E6AC96-7C86-FE1B-68A9-9BC1A5D0A6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02" b="11742"/>
          <a:stretch>
            <a:fillRect/>
          </a:stretch>
        </p:blipFill>
        <p:spPr>
          <a:xfrm>
            <a:off x="29496" y="1690688"/>
            <a:ext cx="12052696" cy="5064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751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97C29-D4F1-10A4-9D87-94E4188CC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D85CE-F8B4-3344-E795-4A159C48E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Complex stochastic process, difficult to predict with deterministic methods</a:t>
            </a:r>
          </a:p>
          <a:p>
            <a:r>
              <a:rPr lang="en-US" dirty="0"/>
              <a:t>There are correlations and indications of a relationship between legislation passed and rates of gun deaths</a:t>
            </a:r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BCCA915-A2D2-1273-0586-B236E12C994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1163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Conclusions: </a:t>
            </a:r>
            <a:br>
              <a:rPr lang="en-US" sz="4000" dirty="0"/>
            </a:b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4246163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361</Words>
  <Application>Microsoft Office PowerPoint</Application>
  <PresentationFormat>Widescreen</PresentationFormat>
  <Paragraphs>53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Office Theme</vt:lpstr>
      <vt:lpstr>Firearm Violence Analysis and Modeling</vt:lpstr>
      <vt:lpstr>PowerPoint Presentation</vt:lpstr>
      <vt:lpstr>PowerPoint Presentation</vt:lpstr>
      <vt:lpstr>PowerPoint Presentation</vt:lpstr>
      <vt:lpstr>Research Question 2a:  Correlation of Features to Firearm Death Rates</vt:lpstr>
      <vt:lpstr>Research Question 2b:  Correlation of Law Strengths to Firearm Death Rates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Dallas</dc:creator>
  <cp:lastModifiedBy>Chloe Barnes</cp:lastModifiedBy>
  <cp:revision>6</cp:revision>
  <dcterms:created xsi:type="dcterms:W3CDTF">2025-12-11T18:47:18Z</dcterms:created>
  <dcterms:modified xsi:type="dcterms:W3CDTF">2025-12-12T05:17:22Z</dcterms:modified>
</cp:coreProperties>
</file>